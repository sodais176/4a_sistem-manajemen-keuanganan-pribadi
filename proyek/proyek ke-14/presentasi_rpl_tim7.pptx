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5" r:id="rId6"/>
    <p:sldId id="260" r:id="rId7"/>
    <p:sldId id="262" r:id="rId8"/>
    <p:sldId id="266" r:id="rId9"/>
    <p:sldId id="264" r:id="rId10"/>
    <p:sldId id="263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7"/>
  </p:normalViewPr>
  <p:slideViewPr>
    <p:cSldViewPr snapToGrid="0">
      <p:cViewPr varScale="1">
        <p:scale>
          <a:sx n="100" d="100"/>
          <a:sy n="100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43156-C319-6948-B2C6-A12EFE38FEB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0F1A9-E763-F945-83B8-8A1F4CC46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4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0F1A9-E763-F945-83B8-8A1F4CC464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05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0F1A9-E763-F945-83B8-8A1F4CC464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7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6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7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8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5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5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8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9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4856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68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6583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12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63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2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67F78-C28E-DA4B-86C4-531DD98C891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9A251BD-1F09-C545-8A46-8CCE9EA91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0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R6AQqp4c1FBcQGWBFqTt7d2GXHhkEfA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203C-9C69-5CD3-EEA0-B20A7D7A6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406400"/>
            <a:ext cx="9144000" cy="21590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APLIKASI MANAJEMEN</a:t>
            </a:r>
            <a:br>
              <a:rPr lang="en-US" sz="3600" dirty="0"/>
            </a:br>
            <a:r>
              <a:rPr lang="en-US" sz="3600" dirty="0"/>
              <a:t> KEUANGAN PRIBADI</a:t>
            </a:r>
            <a:br>
              <a:rPr lang="en-US" sz="3600" dirty="0"/>
            </a:br>
            <a:r>
              <a:rPr lang="en-US" sz="3600" dirty="0"/>
              <a:t> (</a:t>
            </a:r>
            <a:r>
              <a:rPr lang="en-US" sz="3600" i="1" dirty="0"/>
              <a:t>SMART FINANCE</a:t>
            </a:r>
            <a:r>
              <a:rPr lang="en-US" sz="3600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33B1E-07C6-5574-F317-7BA8DAA97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8210" y="2878138"/>
            <a:ext cx="9144000" cy="35734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MATA KULIAH : REKAYASA PERANGKAT LUNAK</a:t>
            </a:r>
          </a:p>
          <a:p>
            <a:r>
              <a:rPr lang="en-US" dirty="0"/>
              <a:t>DISUSUN OLEH :</a:t>
            </a:r>
          </a:p>
          <a:p>
            <a:pPr marL="457200" indent="-457200">
              <a:buAutoNum type="arabicPeriod"/>
            </a:pPr>
            <a:r>
              <a:rPr lang="en-US" dirty="0"/>
              <a:t>MUHAMMAD SODAIS ADAM (2403015030)</a:t>
            </a:r>
          </a:p>
          <a:p>
            <a:pPr marL="457200" indent="-457200">
              <a:buAutoNum type="arabicPeriod"/>
            </a:pPr>
            <a:r>
              <a:rPr lang="en-US" dirty="0"/>
              <a:t>DARA AYU APRILIA (2403015057)</a:t>
            </a:r>
          </a:p>
          <a:p>
            <a:pPr marL="457200" indent="-457200">
              <a:buAutoNum type="arabicPeriod"/>
            </a:pPr>
            <a:r>
              <a:rPr lang="en-US" dirty="0"/>
              <a:t>NUR SAKIYA (2403015102)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Pengampu</a:t>
            </a:r>
            <a:r>
              <a:rPr lang="en-US" dirty="0"/>
              <a:t> :</a:t>
            </a:r>
          </a:p>
          <a:p>
            <a:r>
              <a:rPr lang="en-US" dirty="0"/>
              <a:t>Ir.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Avorizano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, </a:t>
            </a:r>
            <a:r>
              <a:rPr lang="en-US" dirty="0" err="1"/>
              <a:t>M.Kom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Program </a:t>
            </a:r>
            <a:r>
              <a:rPr lang="en-US" dirty="0" err="1"/>
              <a:t>Studi</a:t>
            </a:r>
            <a:r>
              <a:rPr lang="en-US" dirty="0"/>
              <a:t> Teknik </a:t>
            </a:r>
            <a:r>
              <a:rPr lang="en-US" dirty="0" err="1"/>
              <a:t>Informatika</a:t>
            </a:r>
            <a:endParaRPr lang="en-US" dirty="0"/>
          </a:p>
          <a:p>
            <a:r>
              <a:rPr lang="en-US" dirty="0"/>
              <a:t>Universitas Muhammadiyah Prof. Dr. </a:t>
            </a:r>
            <a:r>
              <a:rPr lang="en-US" dirty="0" err="1"/>
              <a:t>Hamka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6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1824-1E6A-3025-C1F0-B8527E10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dan </a:t>
            </a:r>
            <a:r>
              <a:rPr lang="en-US" dirty="0" err="1"/>
              <a:t>Permasalahan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5BA1-AC93-4C94-DE2D-C7DF62DE3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515600" cy="46672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Di era digital, </a:t>
            </a:r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menjaga</a:t>
            </a:r>
            <a:r>
              <a:rPr lang="en-US" dirty="0"/>
              <a:t> </a:t>
            </a:r>
            <a:r>
              <a:rPr lang="en-US" dirty="0" err="1"/>
              <a:t>kestabilan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finansial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pemasukan</a:t>
            </a:r>
            <a:r>
              <a:rPr lang="en-US" dirty="0"/>
              <a:t> dan </a:t>
            </a:r>
            <a:r>
              <a:rPr lang="en-US" dirty="0" err="1"/>
              <a:t>pengeluaran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teratur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yang </a:t>
            </a:r>
            <a:r>
              <a:rPr lang="en-US" dirty="0" err="1"/>
              <a:t>sebenarnya</a:t>
            </a:r>
            <a:r>
              <a:rPr lang="en-US" dirty="0"/>
              <a:t>. </a:t>
            </a:r>
            <a:r>
              <a:rPr lang="en-US" dirty="0" err="1"/>
              <a:t>Akibatnya</a:t>
            </a:r>
            <a:r>
              <a:rPr lang="en-US" dirty="0"/>
              <a:t>, </a:t>
            </a:r>
            <a:r>
              <a:rPr lang="en-US" dirty="0" err="1"/>
              <a:t>pengeluaran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terkontrol</a:t>
            </a:r>
            <a:r>
              <a:rPr lang="en-US" dirty="0"/>
              <a:t> dan target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dicapai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Permasalahan</a:t>
            </a:r>
            <a:r>
              <a:rPr lang="en-US" dirty="0"/>
              <a:t> yang </a:t>
            </a:r>
            <a:r>
              <a:rPr lang="en-US" dirty="0" err="1"/>
              <a:t>Ditemukan</a:t>
            </a:r>
            <a:r>
              <a:rPr lang="en-US" dirty="0"/>
              <a:t>: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pemasukan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rutin</a:t>
            </a:r>
            <a:r>
              <a:rPr lang="en-US" dirty="0"/>
              <a:t>.</a:t>
            </a:r>
          </a:p>
          <a:p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memonitor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kas </a:t>
            </a:r>
            <a:r>
              <a:rPr lang="en-US" dirty="0" err="1"/>
              <a:t>pribadi</a:t>
            </a:r>
            <a:r>
              <a:rPr lang="en-US" dirty="0"/>
              <a:t>.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yang </a:t>
            </a:r>
            <a:r>
              <a:rPr lang="en-US" dirty="0" err="1"/>
              <a:t>terstruktur</a:t>
            </a:r>
            <a:r>
              <a:rPr lang="en-US" dirty="0"/>
              <a:t>.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pengeluaran</a:t>
            </a:r>
            <a:r>
              <a:rPr lang="en-US" dirty="0"/>
              <a:t> </a:t>
            </a:r>
            <a:r>
              <a:rPr lang="en-US" dirty="0" err="1"/>
              <a:t>bulanan</a:t>
            </a:r>
            <a:r>
              <a:rPr lang="en-US" dirty="0"/>
              <a:t>.</a:t>
            </a:r>
          </a:p>
          <a:p>
            <a:r>
              <a:rPr lang="en-US" dirty="0" err="1"/>
              <a:t>Kesulitan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target </a:t>
            </a:r>
            <a:r>
              <a:rPr lang="en-US" dirty="0" err="1"/>
              <a:t>tabungan</a:t>
            </a:r>
            <a:r>
              <a:rPr lang="en-US" dirty="0"/>
              <a:t>.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 </a:t>
            </a:r>
            <a:r>
              <a:rPr lang="en-US" dirty="0" err="1"/>
              <a:t>keuangan</a:t>
            </a:r>
            <a:r>
              <a:rPr lang="en-US" dirty="0"/>
              <a:t> yang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Solusi</a:t>
            </a:r>
          </a:p>
          <a:p>
            <a:pPr marL="0" indent="0">
              <a:buNone/>
            </a:pPr>
            <a:r>
              <a:rPr lang="en-US" b="1" i="1" dirty="0"/>
              <a:t>Smart Finance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 yang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digital, </a:t>
            </a:r>
            <a:r>
              <a:rPr lang="en-US" dirty="0" err="1"/>
              <a:t>praktis</a:t>
            </a:r>
            <a:r>
              <a:rPr lang="en-US" dirty="0"/>
              <a:t> dan </a:t>
            </a:r>
            <a:r>
              <a:rPr lang="en-US" dirty="0" err="1"/>
              <a:t>terorganisir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974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77F5-0935-4F3D-8135-99CDD7F3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dan </a:t>
            </a:r>
            <a:r>
              <a:rPr lang="en-US" dirty="0" err="1"/>
              <a:t>Manfaat</a:t>
            </a:r>
            <a:r>
              <a:rPr lang="en-US" dirty="0"/>
              <a:t> </a:t>
            </a:r>
            <a:r>
              <a:rPr lang="en-US" dirty="0" err="1"/>
              <a:t>Proyek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7114-D8B9-9034-460E-3FE852218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60170"/>
            <a:ext cx="10515600" cy="5303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err="1"/>
              <a:t>Tujuan</a:t>
            </a:r>
            <a:r>
              <a:rPr lang="en-US" sz="1400" dirty="0"/>
              <a:t> </a:t>
            </a:r>
            <a:r>
              <a:rPr lang="en-US" sz="1400" dirty="0" err="1"/>
              <a:t>Pengembangan</a:t>
            </a:r>
            <a:r>
              <a:rPr lang="en-US" sz="1400" dirty="0"/>
              <a:t> </a:t>
            </a:r>
            <a:r>
              <a:rPr lang="en-US" sz="1400" b="1" i="1" dirty="0"/>
              <a:t>Smart Finance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Membantu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r>
              <a:rPr lang="en-US" sz="1400" dirty="0"/>
              <a:t> </a:t>
            </a:r>
            <a:r>
              <a:rPr lang="en-US" sz="1400" dirty="0" err="1"/>
              <a:t>mencatat</a:t>
            </a:r>
            <a:r>
              <a:rPr lang="en-US" sz="1400" dirty="0"/>
              <a:t> </a:t>
            </a:r>
            <a:r>
              <a:rPr lang="en-US" sz="1400" dirty="0" err="1"/>
              <a:t>pemasukan</a:t>
            </a:r>
            <a:r>
              <a:rPr lang="en-US" sz="1400" dirty="0"/>
              <a:t> </a:t>
            </a:r>
            <a:r>
              <a:rPr lang="en-US" sz="1400" dirty="0" err="1"/>
              <a:t>harian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Membantu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r>
              <a:rPr lang="en-US" sz="1400" dirty="0"/>
              <a:t> </a:t>
            </a:r>
            <a:r>
              <a:rPr lang="en-US" sz="1400" dirty="0" err="1"/>
              <a:t>mencatat</a:t>
            </a:r>
            <a:r>
              <a:rPr lang="en-US" sz="1400" dirty="0"/>
              <a:t> </a:t>
            </a:r>
            <a:r>
              <a:rPr lang="en-US" sz="1400" dirty="0" err="1"/>
              <a:t>pengeluaran</a:t>
            </a:r>
            <a:r>
              <a:rPr lang="en-US" sz="1400" dirty="0"/>
              <a:t> </a:t>
            </a:r>
            <a:r>
              <a:rPr lang="en-US" sz="1400" dirty="0" err="1"/>
              <a:t>harian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Menyediakan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saldo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otomatis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Menampilkan</a:t>
            </a:r>
            <a:r>
              <a:rPr lang="en-US" sz="1400" dirty="0"/>
              <a:t> </a:t>
            </a:r>
            <a:r>
              <a:rPr lang="en-US" sz="1400" dirty="0" err="1"/>
              <a:t>grafik</a:t>
            </a:r>
            <a:r>
              <a:rPr lang="en-US" sz="1400" dirty="0"/>
              <a:t> </a:t>
            </a:r>
            <a:r>
              <a:rPr lang="en-US" sz="1400" dirty="0" err="1"/>
              <a:t>kondisi</a:t>
            </a:r>
            <a:r>
              <a:rPr lang="en-US" sz="1400" dirty="0"/>
              <a:t> </a:t>
            </a:r>
            <a:r>
              <a:rPr lang="en-US" sz="1400" dirty="0" err="1"/>
              <a:t>keuangan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Membantu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r>
              <a:rPr lang="en-US" sz="1400" dirty="0"/>
              <a:t> </a:t>
            </a:r>
            <a:r>
              <a:rPr lang="en-US" sz="1400" dirty="0" err="1"/>
              <a:t>menentukan</a:t>
            </a:r>
            <a:r>
              <a:rPr lang="en-US" sz="1400" dirty="0"/>
              <a:t> target </a:t>
            </a:r>
            <a:r>
              <a:rPr lang="en-US" sz="1400" dirty="0" err="1"/>
              <a:t>tabungan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Mendukung</a:t>
            </a:r>
            <a:r>
              <a:rPr lang="en-US" sz="1400" dirty="0"/>
              <a:t> </a:t>
            </a:r>
            <a:r>
              <a:rPr lang="en-US" sz="1400" dirty="0" err="1"/>
              <a:t>pengambilan</a:t>
            </a:r>
            <a:r>
              <a:rPr lang="en-US" sz="1400" dirty="0"/>
              <a:t> </a:t>
            </a:r>
            <a:r>
              <a:rPr lang="en-US" sz="1400" dirty="0" err="1"/>
              <a:t>keputusan</a:t>
            </a:r>
            <a:r>
              <a:rPr lang="en-US" sz="1400" dirty="0"/>
              <a:t> </a:t>
            </a:r>
            <a:r>
              <a:rPr lang="en-US" sz="1400" dirty="0" err="1"/>
              <a:t>keuangan</a:t>
            </a:r>
            <a:r>
              <a:rPr lang="en-US" sz="1400" dirty="0"/>
              <a:t> 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baik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 err="1"/>
              <a:t>Manfaat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Bagi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endParaRPr lang="en-US" sz="1400" dirty="0"/>
          </a:p>
          <a:p>
            <a:r>
              <a:rPr lang="en-US" sz="1400" dirty="0" err="1"/>
              <a:t>Pengelolaan</a:t>
            </a:r>
            <a:r>
              <a:rPr lang="en-US" sz="1400" dirty="0"/>
              <a:t> </a:t>
            </a:r>
            <a:r>
              <a:rPr lang="en-US" sz="1400" dirty="0" err="1"/>
              <a:t>keuangan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teratur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Memudahkan</a:t>
            </a:r>
            <a:r>
              <a:rPr lang="en-US" sz="1400" dirty="0"/>
              <a:t> </a:t>
            </a:r>
            <a:r>
              <a:rPr lang="en-US" sz="1400" dirty="0" err="1"/>
              <a:t>evaluasi</a:t>
            </a:r>
            <a:r>
              <a:rPr lang="en-US" sz="1400" dirty="0"/>
              <a:t> </a:t>
            </a:r>
            <a:r>
              <a:rPr lang="en-US" sz="1400" dirty="0" err="1"/>
              <a:t>pengeluaran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Membantu</a:t>
            </a:r>
            <a:r>
              <a:rPr lang="en-US" sz="1400" dirty="0"/>
              <a:t> </a:t>
            </a:r>
            <a:r>
              <a:rPr lang="en-US" sz="1400" dirty="0" err="1"/>
              <a:t>mencapai</a:t>
            </a:r>
            <a:r>
              <a:rPr lang="en-US" sz="1400" dirty="0"/>
              <a:t> target </a:t>
            </a:r>
            <a:r>
              <a:rPr lang="en-US" sz="1400" dirty="0" err="1"/>
              <a:t>finansial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 err="1"/>
              <a:t>Bagi</a:t>
            </a:r>
            <a:r>
              <a:rPr lang="en-US" sz="1400" dirty="0"/>
              <a:t> </a:t>
            </a:r>
            <a:r>
              <a:rPr lang="en-US" sz="1400" dirty="0" err="1"/>
              <a:t>Mahasiswa</a:t>
            </a:r>
            <a:r>
              <a:rPr lang="en-US" sz="1400" dirty="0"/>
              <a:t> </a:t>
            </a:r>
            <a:r>
              <a:rPr lang="en-US" sz="1400" dirty="0" err="1"/>
              <a:t>Pengembang</a:t>
            </a:r>
            <a:endParaRPr lang="en-US" sz="1400" dirty="0"/>
          </a:p>
          <a:p>
            <a:r>
              <a:rPr lang="en-US" sz="1400" dirty="0" err="1"/>
              <a:t>Mengimplementasikan</a:t>
            </a:r>
            <a:r>
              <a:rPr lang="en-US" sz="1400" dirty="0"/>
              <a:t> </a:t>
            </a:r>
            <a:r>
              <a:rPr lang="en-US" sz="1400" dirty="0" err="1"/>
              <a:t>konsep</a:t>
            </a:r>
            <a:r>
              <a:rPr lang="en-US" sz="1400" dirty="0"/>
              <a:t> </a:t>
            </a:r>
            <a:r>
              <a:rPr lang="en-US" sz="1400" dirty="0" err="1"/>
              <a:t>Rekayasa</a:t>
            </a:r>
            <a:r>
              <a:rPr lang="en-US" sz="1400" dirty="0"/>
              <a:t> </a:t>
            </a:r>
            <a:r>
              <a:rPr lang="en-US" sz="1400" dirty="0" err="1"/>
              <a:t>Perangkat</a:t>
            </a:r>
            <a:r>
              <a:rPr lang="en-US" sz="1400" dirty="0"/>
              <a:t> </a:t>
            </a:r>
            <a:r>
              <a:rPr lang="en-US" sz="1400" dirty="0" err="1"/>
              <a:t>Lunak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Menerapkan</a:t>
            </a:r>
            <a:r>
              <a:rPr lang="en-US" sz="1400" dirty="0"/>
              <a:t> </a:t>
            </a:r>
            <a:r>
              <a:rPr lang="en-US" sz="1400" dirty="0" err="1"/>
              <a:t>perancangan</a:t>
            </a:r>
            <a:r>
              <a:rPr lang="en-US" sz="1400" dirty="0"/>
              <a:t> database.</a:t>
            </a:r>
          </a:p>
          <a:p>
            <a:r>
              <a:rPr lang="en-US" sz="1400" dirty="0" err="1"/>
              <a:t>Mengembangkan</a:t>
            </a:r>
            <a:r>
              <a:rPr lang="en-US" sz="1400" dirty="0"/>
              <a:t> </a:t>
            </a:r>
            <a:r>
              <a:rPr lang="en-US" sz="1400" dirty="0" err="1"/>
              <a:t>aplikasi</a:t>
            </a:r>
            <a:r>
              <a:rPr lang="en-US" sz="1400" dirty="0"/>
              <a:t> </a:t>
            </a:r>
            <a:r>
              <a:rPr lang="en-US" sz="1400" dirty="0" err="1"/>
              <a:t>berbasis</a:t>
            </a:r>
            <a:r>
              <a:rPr lang="en-US" sz="1400" dirty="0"/>
              <a:t> web </a:t>
            </a:r>
            <a:r>
              <a:rPr lang="en-US" sz="1400" dirty="0" err="1"/>
              <a:t>menggunakan</a:t>
            </a:r>
            <a:r>
              <a:rPr lang="en-US" sz="1400" dirty="0"/>
              <a:t> PHP dan MySQL.</a:t>
            </a:r>
          </a:p>
        </p:txBody>
      </p:sp>
    </p:spTree>
    <p:extLst>
      <p:ext uri="{BB962C8B-B14F-4D97-AF65-F5344CB8AC3E}">
        <p14:creationId xmlns:p14="http://schemas.microsoft.com/office/powerpoint/2010/main" val="191236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7848-FAB6-B3AB-4011-A271F056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Fitur Utama </a:t>
            </a:r>
            <a:r>
              <a:rPr lang="en-US" i="1" dirty="0"/>
              <a:t>Smart 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9F87F-F72F-AA6F-7883-081D3722A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10" y="1337151"/>
            <a:ext cx="10515600" cy="4629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Pemasukan</a:t>
            </a:r>
            <a:endParaRPr lang="en-US" dirty="0"/>
          </a:p>
          <a:p>
            <a:r>
              <a:rPr lang="en-US" dirty="0" err="1"/>
              <a:t>Menambah</a:t>
            </a:r>
            <a:r>
              <a:rPr lang="en-US" dirty="0"/>
              <a:t> data </a:t>
            </a:r>
            <a:r>
              <a:rPr lang="en-US" dirty="0" err="1"/>
              <a:t>pemasukan</a:t>
            </a:r>
            <a:r>
              <a:rPr lang="en-US" dirty="0"/>
              <a:t>.</a:t>
            </a:r>
          </a:p>
          <a:p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tanggal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.</a:t>
            </a:r>
          </a:p>
          <a:p>
            <a:r>
              <a:rPr lang="en-US" dirty="0" err="1"/>
              <a:t>Menyimpan</a:t>
            </a:r>
            <a:r>
              <a:rPr lang="en-US" dirty="0"/>
              <a:t> nominal dan </a:t>
            </a:r>
            <a:r>
              <a:rPr lang="en-US" dirty="0" err="1"/>
              <a:t>keterangan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Pencatatan</a:t>
            </a:r>
            <a:r>
              <a:rPr lang="en-US" dirty="0"/>
              <a:t> </a:t>
            </a:r>
            <a:r>
              <a:rPr lang="en-US" dirty="0" err="1"/>
              <a:t>Pengeluaran</a:t>
            </a:r>
            <a:endParaRPr lang="en-US" dirty="0"/>
          </a:p>
          <a:p>
            <a:r>
              <a:rPr lang="en-US" dirty="0" err="1"/>
              <a:t>Menambah</a:t>
            </a:r>
            <a:r>
              <a:rPr lang="en-US" dirty="0"/>
              <a:t> data </a:t>
            </a:r>
            <a:r>
              <a:rPr lang="en-US" dirty="0" err="1"/>
              <a:t>pengeluaran</a:t>
            </a:r>
            <a:r>
              <a:rPr lang="en-US" dirty="0"/>
              <a:t>.</a:t>
            </a:r>
          </a:p>
          <a:p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pengeluaran</a:t>
            </a:r>
            <a:r>
              <a:rPr lang="en-US" dirty="0"/>
              <a:t>.</a:t>
            </a:r>
          </a:p>
          <a:p>
            <a:r>
              <a:rPr lang="en-US" dirty="0"/>
              <a:t>Monitoring </a:t>
            </a:r>
            <a:r>
              <a:rPr lang="en-US" dirty="0" err="1"/>
              <a:t>pengeluaran</a:t>
            </a:r>
            <a:r>
              <a:rPr lang="en-US" dirty="0"/>
              <a:t> </a:t>
            </a:r>
            <a:r>
              <a:rPr lang="en-US" dirty="0" err="1"/>
              <a:t>harian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05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7848-FAB6-B3AB-4011-A271F056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718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dirty="0"/>
            </a:br>
            <a:r>
              <a:rPr lang="en-US" dirty="0"/>
              <a:t>Fitur Utama </a:t>
            </a:r>
            <a:r>
              <a:rPr lang="en-US" i="1" dirty="0"/>
              <a:t>Smart 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9F87F-F72F-AA6F-7883-081D3722A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165701"/>
            <a:ext cx="10515600" cy="5497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3. </a:t>
            </a:r>
            <a:r>
              <a:rPr lang="en-US" sz="1900" dirty="0" err="1"/>
              <a:t>Grafik</a:t>
            </a:r>
            <a:r>
              <a:rPr lang="en-US" sz="1900" dirty="0"/>
              <a:t> </a:t>
            </a:r>
            <a:r>
              <a:rPr lang="en-US" sz="1900" dirty="0" err="1"/>
              <a:t>Keuangan</a:t>
            </a:r>
            <a:endParaRPr lang="en-US" sz="1900" dirty="0"/>
          </a:p>
          <a:p>
            <a:r>
              <a:rPr lang="en-US" sz="1900" dirty="0" err="1"/>
              <a:t>Grafik</a:t>
            </a:r>
            <a:r>
              <a:rPr lang="en-US" sz="1900" dirty="0"/>
              <a:t> </a:t>
            </a:r>
            <a:r>
              <a:rPr lang="en-US" sz="1900" dirty="0" err="1"/>
              <a:t>Batang</a:t>
            </a:r>
            <a:r>
              <a:rPr lang="en-US" sz="1900" dirty="0"/>
              <a:t> </a:t>
            </a:r>
            <a:r>
              <a:rPr lang="en-US" sz="1900" i="1" dirty="0"/>
              <a:t>(Bar Chart)</a:t>
            </a:r>
          </a:p>
          <a:p>
            <a:r>
              <a:rPr lang="en-US" sz="1900" dirty="0" err="1"/>
              <a:t>Grafik</a:t>
            </a:r>
            <a:r>
              <a:rPr lang="en-US" sz="1900" dirty="0"/>
              <a:t> Garis (</a:t>
            </a:r>
            <a:r>
              <a:rPr lang="en-US" sz="1900" i="1" dirty="0"/>
              <a:t>Line Chart)</a:t>
            </a:r>
          </a:p>
          <a:p>
            <a:r>
              <a:rPr lang="en-US" sz="1900" dirty="0" err="1"/>
              <a:t>Grarik</a:t>
            </a:r>
            <a:r>
              <a:rPr lang="en-US" sz="1900" dirty="0"/>
              <a:t> </a:t>
            </a:r>
            <a:r>
              <a:rPr lang="en-US" sz="1900" dirty="0" err="1"/>
              <a:t>Lingkaran</a:t>
            </a:r>
            <a:r>
              <a:rPr lang="en-US" sz="1900" dirty="0"/>
              <a:t> (</a:t>
            </a:r>
            <a:r>
              <a:rPr lang="en-US" sz="1900" i="1" dirty="0"/>
              <a:t>Pie Chart)</a:t>
            </a:r>
          </a:p>
          <a:p>
            <a:pPr marL="0" indent="0">
              <a:buNone/>
            </a:pPr>
            <a:r>
              <a:rPr lang="en-US" sz="1900" dirty="0" err="1"/>
              <a:t>Fungsi</a:t>
            </a:r>
            <a:r>
              <a:rPr lang="en-US" sz="1900" dirty="0"/>
              <a:t> </a:t>
            </a:r>
            <a:r>
              <a:rPr lang="en-US" sz="1900" dirty="0" err="1"/>
              <a:t>Grafik</a:t>
            </a:r>
            <a:endParaRPr lang="en-US" sz="1900" dirty="0"/>
          </a:p>
          <a:p>
            <a:r>
              <a:rPr lang="en-US" sz="1900" dirty="0" err="1"/>
              <a:t>Mengetahui</a:t>
            </a:r>
            <a:r>
              <a:rPr lang="en-US" sz="1900" dirty="0"/>
              <a:t> </a:t>
            </a:r>
            <a:r>
              <a:rPr lang="en-US" sz="1900" dirty="0" err="1"/>
              <a:t>tren</a:t>
            </a:r>
            <a:r>
              <a:rPr lang="en-US" sz="1900" dirty="0"/>
              <a:t> </a:t>
            </a:r>
            <a:r>
              <a:rPr lang="en-US" sz="1900" dirty="0" err="1"/>
              <a:t>pengeluaran</a:t>
            </a:r>
            <a:r>
              <a:rPr lang="en-US" sz="1900" dirty="0"/>
              <a:t>.</a:t>
            </a:r>
          </a:p>
          <a:p>
            <a:r>
              <a:rPr lang="en-US" sz="1900" dirty="0" err="1"/>
              <a:t>Mengetahui</a:t>
            </a:r>
            <a:r>
              <a:rPr lang="en-US" sz="1900" dirty="0"/>
              <a:t> </a:t>
            </a:r>
            <a:r>
              <a:rPr lang="en-US" sz="1900" dirty="0" err="1"/>
              <a:t>sumber</a:t>
            </a:r>
            <a:r>
              <a:rPr lang="en-US" sz="1900" dirty="0"/>
              <a:t> </a:t>
            </a:r>
            <a:r>
              <a:rPr lang="en-US" sz="1900" dirty="0" err="1"/>
              <a:t>pemasukan</a:t>
            </a:r>
            <a:r>
              <a:rPr lang="en-US" sz="1900" dirty="0"/>
              <a:t> </a:t>
            </a:r>
            <a:r>
              <a:rPr lang="en-US" sz="1900" dirty="0" err="1"/>
              <a:t>terbesar</a:t>
            </a:r>
            <a:r>
              <a:rPr lang="en-US" sz="1900" dirty="0"/>
              <a:t>.</a:t>
            </a:r>
          </a:p>
          <a:p>
            <a:r>
              <a:rPr lang="en-US" sz="1900" dirty="0" err="1"/>
              <a:t>Membantu</a:t>
            </a:r>
            <a:r>
              <a:rPr lang="en-US" sz="1900" dirty="0"/>
              <a:t> </a:t>
            </a:r>
            <a:r>
              <a:rPr lang="en-US" sz="1900" dirty="0" err="1"/>
              <a:t>analisis</a:t>
            </a:r>
            <a:r>
              <a:rPr lang="en-US" sz="1900" dirty="0"/>
              <a:t> </a:t>
            </a:r>
            <a:r>
              <a:rPr lang="en-US" sz="1900" dirty="0" err="1"/>
              <a:t>keuangan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1900" dirty="0"/>
              <a:t>4. Target Tabungan</a:t>
            </a:r>
          </a:p>
          <a:p>
            <a:r>
              <a:rPr lang="en-US" sz="1900" dirty="0" err="1"/>
              <a:t>Menentukan</a:t>
            </a:r>
            <a:r>
              <a:rPr lang="en-US" sz="1900" dirty="0"/>
              <a:t> nominal target.</a:t>
            </a:r>
          </a:p>
          <a:p>
            <a:r>
              <a:rPr lang="en-US" sz="1900" dirty="0" err="1"/>
              <a:t>Menentukan</a:t>
            </a:r>
            <a:r>
              <a:rPr lang="en-US" sz="1900" dirty="0"/>
              <a:t> </a:t>
            </a:r>
            <a:r>
              <a:rPr lang="en-US" sz="1900" dirty="0" err="1"/>
              <a:t>tenggat</a:t>
            </a:r>
            <a:r>
              <a:rPr lang="en-US" sz="1900" dirty="0"/>
              <a:t> </a:t>
            </a:r>
            <a:r>
              <a:rPr lang="en-US" sz="1900" dirty="0" err="1"/>
              <a:t>waktu</a:t>
            </a:r>
            <a:r>
              <a:rPr lang="en-US" sz="1900" dirty="0"/>
              <a:t>.</a:t>
            </a:r>
          </a:p>
          <a:p>
            <a:r>
              <a:rPr lang="en-US" sz="1900" dirty="0" err="1"/>
              <a:t>Menampilkan</a:t>
            </a:r>
            <a:r>
              <a:rPr lang="en-US" sz="1900" dirty="0"/>
              <a:t> </a:t>
            </a:r>
            <a:r>
              <a:rPr lang="en-US" sz="1900" dirty="0" err="1"/>
              <a:t>persentase</a:t>
            </a:r>
            <a:r>
              <a:rPr lang="en-US" sz="1900" dirty="0"/>
              <a:t> </a:t>
            </a:r>
            <a:r>
              <a:rPr lang="en-US" sz="1900" dirty="0" err="1"/>
              <a:t>pencapaian</a:t>
            </a:r>
            <a:r>
              <a:rPr lang="en-US" sz="1900" dirty="0"/>
              <a:t> target.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1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85A8-FDEA-A641-9DEC-67C77242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Analisis</a:t>
            </a:r>
            <a:r>
              <a:rPr lang="en-US" dirty="0"/>
              <a:t> dan </a:t>
            </a:r>
            <a:r>
              <a:rPr lang="en-US" dirty="0" err="1"/>
              <a:t>Perancangan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602D7-ACEE-5F3E-DC2D-DE6CD1F1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765810"/>
            <a:ext cx="10515600" cy="60921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/>
              <a:t>Kebutuhan</a:t>
            </a:r>
            <a:r>
              <a:rPr lang="en-US" sz="1600" dirty="0"/>
              <a:t> </a:t>
            </a:r>
            <a:r>
              <a:rPr lang="en-US" sz="1600" dirty="0" err="1"/>
              <a:t>Fungsional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mendapatkan</a:t>
            </a:r>
            <a:r>
              <a:rPr lang="en-US" sz="1600" dirty="0"/>
              <a:t>  </a:t>
            </a:r>
            <a:r>
              <a:rPr lang="en-US" sz="1600" dirty="0" err="1"/>
              <a:t>fitur</a:t>
            </a:r>
            <a:r>
              <a:rPr lang="en-US" sz="1600" dirty="0"/>
              <a:t> :</a:t>
            </a:r>
          </a:p>
          <a:p>
            <a:r>
              <a:rPr lang="en-US" sz="1600" dirty="0"/>
              <a:t>Login dan Logout.</a:t>
            </a:r>
          </a:p>
          <a:p>
            <a:r>
              <a:rPr lang="en-US" sz="1600" dirty="0" err="1"/>
              <a:t>Mengelola</a:t>
            </a:r>
            <a:r>
              <a:rPr lang="en-US" sz="1600" dirty="0"/>
              <a:t> data </a:t>
            </a:r>
            <a:r>
              <a:rPr lang="en-US" sz="1600" dirty="0" err="1"/>
              <a:t>pemasukan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Mengelola</a:t>
            </a:r>
            <a:r>
              <a:rPr lang="en-US" sz="1600" dirty="0"/>
              <a:t> data </a:t>
            </a:r>
            <a:r>
              <a:rPr lang="en-US" sz="1600" dirty="0" err="1"/>
              <a:t>pengeluaran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Mengatur</a:t>
            </a:r>
            <a:r>
              <a:rPr lang="en-US" sz="1600" dirty="0"/>
              <a:t> target </a:t>
            </a:r>
            <a:r>
              <a:rPr lang="en-US" sz="1600" dirty="0" err="1"/>
              <a:t>tabungan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Melihat</a:t>
            </a:r>
            <a:r>
              <a:rPr lang="en-US" sz="1600" dirty="0"/>
              <a:t> dashboard </a:t>
            </a:r>
            <a:r>
              <a:rPr lang="en-US" sz="1600" dirty="0" err="1"/>
              <a:t>keuangan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Melihat</a:t>
            </a:r>
            <a:r>
              <a:rPr lang="en-US" sz="1600" dirty="0"/>
              <a:t> </a:t>
            </a:r>
            <a:r>
              <a:rPr lang="en-US" sz="1600" dirty="0" err="1"/>
              <a:t>grafik</a:t>
            </a:r>
            <a:r>
              <a:rPr lang="en-US" sz="1600" dirty="0"/>
              <a:t> </a:t>
            </a:r>
            <a:r>
              <a:rPr lang="en-US" sz="1600" dirty="0" err="1"/>
              <a:t>keuangan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Use Case </a:t>
            </a:r>
            <a:r>
              <a:rPr lang="en-US" sz="1600" dirty="0" err="1"/>
              <a:t>Sistem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Aktor</a:t>
            </a:r>
            <a:r>
              <a:rPr lang="en-US" sz="1600" dirty="0"/>
              <a:t>: User/Admin</a:t>
            </a:r>
          </a:p>
          <a:p>
            <a:pPr marL="0" indent="0">
              <a:buNone/>
            </a:pPr>
            <a:r>
              <a:rPr lang="en-US" sz="1600" dirty="0" err="1"/>
              <a:t>Aktivitas</a:t>
            </a:r>
            <a:r>
              <a:rPr lang="en-US" sz="1600" dirty="0"/>
              <a:t>:</a:t>
            </a:r>
          </a:p>
          <a:p>
            <a:r>
              <a:rPr lang="en-US" sz="1600" dirty="0"/>
              <a:t>Login</a:t>
            </a:r>
          </a:p>
          <a:p>
            <a:r>
              <a:rPr lang="en-US" sz="1600" dirty="0"/>
              <a:t>Kelola </a:t>
            </a:r>
            <a:r>
              <a:rPr lang="en-US" sz="1600" dirty="0" err="1"/>
              <a:t>Pemasukan</a:t>
            </a:r>
            <a:endParaRPr lang="en-US" sz="1600" dirty="0"/>
          </a:p>
          <a:p>
            <a:r>
              <a:rPr lang="en-US" sz="1600" dirty="0"/>
              <a:t>Kelola </a:t>
            </a:r>
            <a:r>
              <a:rPr lang="en-US" sz="1600" dirty="0" err="1"/>
              <a:t>Pengeluaran</a:t>
            </a:r>
            <a:endParaRPr lang="en-US" sz="1600" dirty="0"/>
          </a:p>
          <a:p>
            <a:r>
              <a:rPr lang="en-US" sz="1600" dirty="0"/>
              <a:t>Kelola Target Tabungan</a:t>
            </a:r>
          </a:p>
          <a:p>
            <a:r>
              <a:rPr lang="en-US" sz="1600" dirty="0" err="1"/>
              <a:t>Melihat</a:t>
            </a:r>
            <a:r>
              <a:rPr lang="en-US" sz="1600" dirty="0"/>
              <a:t> </a:t>
            </a:r>
            <a:r>
              <a:rPr lang="en-US" sz="1600" dirty="0" err="1"/>
              <a:t>Grafik</a:t>
            </a:r>
            <a:endParaRPr lang="en-US" sz="1600" dirty="0"/>
          </a:p>
          <a:p>
            <a:r>
              <a:rPr lang="en-US" sz="1600" dirty="0"/>
              <a:t>Logout</a:t>
            </a:r>
          </a:p>
          <a:p>
            <a:pPr marL="0" indent="0">
              <a:buNone/>
            </a:pPr>
            <a:r>
              <a:rPr lang="en-US" sz="1600" dirty="0"/>
              <a:t>Alur </a:t>
            </a:r>
            <a:r>
              <a:rPr lang="en-US" sz="1600" dirty="0" err="1"/>
              <a:t>Sistem</a:t>
            </a:r>
            <a:r>
              <a:rPr lang="en-US" sz="1600" dirty="0"/>
              <a:t> (Flowchart)</a:t>
            </a:r>
          </a:p>
          <a:p>
            <a:pPr marL="0" indent="0">
              <a:buNone/>
            </a:pPr>
            <a:r>
              <a:rPr lang="en-US" sz="1600" dirty="0" err="1"/>
              <a:t>Mulai</a:t>
            </a:r>
            <a:r>
              <a:rPr lang="en-US" sz="1600" dirty="0"/>
              <a:t> </a:t>
            </a:r>
            <a:r>
              <a:rPr lang="en-US" sz="1600" dirty="0">
                <a:sym typeface="Wingdings" pitchFamily="2" charset="2"/>
              </a:rPr>
              <a:t> Login  Dashboard  </a:t>
            </a:r>
            <a:r>
              <a:rPr lang="en-US" sz="1600" dirty="0" err="1">
                <a:sym typeface="Wingdings" pitchFamily="2" charset="2"/>
              </a:rPr>
              <a:t>Pilih</a:t>
            </a:r>
            <a:r>
              <a:rPr lang="en-US" sz="1600" dirty="0">
                <a:sym typeface="Wingdings" pitchFamily="2" charset="2"/>
              </a:rPr>
              <a:t> Menu  Input </a:t>
            </a:r>
            <a:r>
              <a:rPr lang="en-US" sz="1600" dirty="0" err="1">
                <a:sym typeface="Wingdings" pitchFamily="2" charset="2"/>
              </a:rPr>
              <a:t>Pemasukan</a:t>
            </a:r>
            <a:r>
              <a:rPr lang="en-US" sz="1600" dirty="0">
                <a:sym typeface="Wingdings" pitchFamily="2" charset="2"/>
              </a:rPr>
              <a:t>/</a:t>
            </a:r>
            <a:r>
              <a:rPr lang="en-US" sz="1600" dirty="0" err="1">
                <a:sym typeface="Wingdings" pitchFamily="2" charset="2"/>
              </a:rPr>
              <a:t>Pengeluaran</a:t>
            </a:r>
            <a:r>
              <a:rPr lang="en-US" sz="1600" dirty="0">
                <a:sym typeface="Wingdings" pitchFamily="2" charset="2"/>
              </a:rPr>
              <a:t>  </a:t>
            </a:r>
            <a:r>
              <a:rPr lang="en-US" sz="1600" dirty="0" err="1">
                <a:sym typeface="Wingdings" pitchFamily="2" charset="2"/>
              </a:rPr>
              <a:t>Grafik</a:t>
            </a:r>
            <a:r>
              <a:rPr lang="en-US" sz="1600" dirty="0">
                <a:sym typeface="Wingdings" pitchFamily="2" charset="2"/>
              </a:rPr>
              <a:t>  Target Tabungan  </a:t>
            </a:r>
            <a:r>
              <a:rPr lang="en-US" sz="1600" dirty="0" err="1">
                <a:sym typeface="Wingdings" pitchFamily="2" charset="2"/>
              </a:rPr>
              <a:t>Laporan</a:t>
            </a:r>
            <a:r>
              <a:rPr lang="en-US" sz="1600" dirty="0">
                <a:sym typeface="Wingdings" pitchFamily="2" charset="2"/>
              </a:rPr>
              <a:t>  </a:t>
            </a:r>
            <a:r>
              <a:rPr lang="en-US" sz="1600" dirty="0" err="1">
                <a:sym typeface="Wingdings" pitchFamily="2" charset="2"/>
              </a:rPr>
              <a:t>Selesai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8945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330A-791E-0C46-85D5-0961C7AC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Database dan </a:t>
            </a:r>
            <a:r>
              <a:rPr lang="en-US" dirty="0" err="1"/>
              <a:t>Implementasi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41F1-0342-96A7-3F8B-8BDEB2084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610" y="1154271"/>
            <a:ext cx="10515600" cy="6858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Struktur</a:t>
            </a:r>
            <a:r>
              <a:rPr lang="en-US" sz="1800" dirty="0"/>
              <a:t> Database</a:t>
            </a:r>
          </a:p>
          <a:p>
            <a:pPr marL="0" indent="0">
              <a:buNone/>
            </a:pPr>
            <a:r>
              <a:rPr lang="en-US" sz="1800" dirty="0" err="1"/>
              <a:t>Tabel</a:t>
            </a:r>
            <a:r>
              <a:rPr lang="en-US" sz="1800" dirty="0"/>
              <a:t> User</a:t>
            </a:r>
          </a:p>
          <a:p>
            <a:r>
              <a:rPr lang="en-US" sz="1800" dirty="0" err="1"/>
              <a:t>id_user</a:t>
            </a:r>
            <a:endParaRPr lang="en-US" sz="1800" dirty="0"/>
          </a:p>
          <a:p>
            <a:r>
              <a:rPr lang="en-US" sz="1800" dirty="0" err="1"/>
              <a:t>nama</a:t>
            </a:r>
            <a:endParaRPr lang="en-US" sz="1800" dirty="0"/>
          </a:p>
          <a:p>
            <a:r>
              <a:rPr lang="en-US" sz="1800" dirty="0"/>
              <a:t>email</a:t>
            </a:r>
          </a:p>
          <a:p>
            <a:r>
              <a:rPr lang="en-US" sz="1800" dirty="0"/>
              <a:t>password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Pemasukan</a:t>
            </a:r>
            <a:endParaRPr lang="en-US" sz="1800" dirty="0"/>
          </a:p>
          <a:p>
            <a:r>
              <a:rPr lang="en-US" sz="1800" dirty="0" err="1"/>
              <a:t>id_masuk</a:t>
            </a:r>
            <a:endParaRPr lang="en-US" sz="1800" dirty="0"/>
          </a:p>
          <a:p>
            <a:r>
              <a:rPr lang="en-US" sz="1800" dirty="0" err="1"/>
              <a:t>tanggal</a:t>
            </a:r>
            <a:endParaRPr lang="en-US" sz="1800" dirty="0"/>
          </a:p>
          <a:p>
            <a:r>
              <a:rPr lang="en-US" sz="1800" dirty="0"/>
              <a:t>nominal</a:t>
            </a:r>
          </a:p>
          <a:p>
            <a:r>
              <a:rPr lang="en-US" sz="1800" dirty="0" err="1"/>
              <a:t>keterangan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6368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330A-791E-0C46-85D5-0961C7AC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Database dan </a:t>
            </a:r>
            <a:r>
              <a:rPr lang="en-US" dirty="0" err="1"/>
              <a:t>Implementasi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41F1-0342-96A7-3F8B-8BDEB2084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25563"/>
            <a:ext cx="10515600" cy="6858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Pengeluaran</a:t>
            </a:r>
            <a:endParaRPr lang="en-US" sz="1800" dirty="0"/>
          </a:p>
          <a:p>
            <a:r>
              <a:rPr lang="en-US" sz="1800" dirty="0" err="1"/>
              <a:t>id_keluar</a:t>
            </a:r>
            <a:endParaRPr lang="en-US" sz="1800" dirty="0"/>
          </a:p>
          <a:p>
            <a:r>
              <a:rPr lang="en-US" sz="1800" dirty="0" err="1"/>
              <a:t>tanggal</a:t>
            </a:r>
            <a:endParaRPr lang="en-US" sz="1800" dirty="0"/>
          </a:p>
          <a:p>
            <a:r>
              <a:rPr lang="en-US" sz="1800" dirty="0"/>
              <a:t>nominal</a:t>
            </a:r>
          </a:p>
          <a:p>
            <a:r>
              <a:rPr lang="en-US" sz="1800" dirty="0" err="1"/>
              <a:t>kategori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Tabel</a:t>
            </a:r>
            <a:r>
              <a:rPr lang="en-US" sz="1800" dirty="0"/>
              <a:t> Target Tabungan</a:t>
            </a:r>
          </a:p>
          <a:p>
            <a:r>
              <a:rPr lang="en-US" sz="1800" dirty="0" err="1"/>
              <a:t>id_target</a:t>
            </a:r>
            <a:endParaRPr lang="en-US" sz="1800" dirty="0"/>
          </a:p>
          <a:p>
            <a:r>
              <a:rPr lang="en-US" sz="1800" dirty="0" err="1"/>
              <a:t>nama</a:t>
            </a:r>
            <a:r>
              <a:rPr lang="en-US" sz="1800" dirty="0"/>
              <a:t> target</a:t>
            </a:r>
          </a:p>
          <a:p>
            <a:r>
              <a:rPr lang="en-US" sz="1800" dirty="0" err="1"/>
              <a:t>target_nominal</a:t>
            </a:r>
            <a:endParaRPr lang="en-US" sz="1800" dirty="0"/>
          </a:p>
          <a:p>
            <a:r>
              <a:rPr lang="en-US" sz="1800" dirty="0" err="1"/>
              <a:t>terkumpul</a:t>
            </a:r>
            <a:endParaRPr lang="en-US" sz="1800" dirty="0"/>
          </a:p>
          <a:p>
            <a:r>
              <a:rPr lang="en-US" sz="1800" dirty="0"/>
              <a:t>deadline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5837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330A-791E-0C46-85D5-0961C7AC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Database dan </a:t>
            </a:r>
            <a:r>
              <a:rPr lang="en-US" dirty="0" err="1"/>
              <a:t>Implementasi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93801C-7F5F-C8E4-1D50-70BD3DC13EA1}"/>
              </a:ext>
            </a:extLst>
          </p:cNvPr>
          <p:cNvSpPr txBox="1">
            <a:spLocks/>
          </p:cNvSpPr>
          <p:nvPr/>
        </p:nvSpPr>
        <p:spPr>
          <a:xfrm>
            <a:off x="1478280" y="1234123"/>
            <a:ext cx="10515600" cy="545528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Teknologi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Software</a:t>
            </a:r>
          </a:p>
          <a:p>
            <a:r>
              <a:rPr lang="en-US" dirty="0"/>
              <a:t>PHP</a:t>
            </a:r>
          </a:p>
          <a:p>
            <a:r>
              <a:rPr lang="en-US" dirty="0"/>
              <a:t>MySQL</a:t>
            </a:r>
          </a:p>
          <a:p>
            <a:r>
              <a:rPr lang="en-US" dirty="0"/>
              <a:t>XAMPP</a:t>
            </a:r>
          </a:p>
          <a:p>
            <a:r>
              <a:rPr lang="en-US" dirty="0"/>
              <a:t>Visual Studio Code</a:t>
            </a:r>
          </a:p>
          <a:p>
            <a:r>
              <a:rPr lang="en-US" dirty="0"/>
              <a:t>Google Chrome</a:t>
            </a:r>
          </a:p>
          <a:p>
            <a:pPr marL="0" indent="0">
              <a:buNone/>
            </a:pPr>
            <a:r>
              <a:rPr lang="en-US" dirty="0"/>
              <a:t>Hardware</a:t>
            </a:r>
          </a:p>
          <a:p>
            <a:r>
              <a:rPr lang="en-US" dirty="0"/>
              <a:t>Laptop/PC</a:t>
            </a:r>
          </a:p>
          <a:p>
            <a:r>
              <a:rPr lang="en-US" dirty="0"/>
              <a:t>RAM minimal 4 GB</a:t>
            </a:r>
          </a:p>
          <a:p>
            <a:r>
              <a:rPr lang="en-US" dirty="0" err="1"/>
              <a:t>Penyimpanan</a:t>
            </a:r>
            <a:r>
              <a:rPr lang="en-US" dirty="0"/>
              <a:t> minimal 500 MB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Implementasi</a:t>
            </a:r>
            <a:r>
              <a:rPr lang="en-US" dirty="0"/>
              <a:t> Program</a:t>
            </a:r>
          </a:p>
          <a:p>
            <a:pPr marL="0" indent="0">
              <a:buNone/>
            </a:pP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saldo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$</a:t>
            </a:r>
            <a:r>
              <a:rPr lang="en-US" dirty="0" err="1"/>
              <a:t>saldo</a:t>
            </a:r>
            <a:r>
              <a:rPr lang="en-US" dirty="0"/>
              <a:t> = $</a:t>
            </a:r>
            <a:r>
              <a:rPr lang="en-US" dirty="0" err="1"/>
              <a:t>total_pemasukan</a:t>
            </a:r>
            <a:r>
              <a:rPr lang="en-US" dirty="0"/>
              <a:t> - $</a:t>
            </a:r>
            <a:r>
              <a:rPr lang="en-US" dirty="0" err="1"/>
              <a:t>total_pengeluaran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Perhitungan</a:t>
            </a:r>
            <a:r>
              <a:rPr lang="en-US" dirty="0"/>
              <a:t> target </a:t>
            </a:r>
            <a:r>
              <a:rPr lang="en-US" dirty="0" err="1"/>
              <a:t>tabungan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$</a:t>
            </a:r>
            <a:r>
              <a:rPr lang="en-US" dirty="0" err="1"/>
              <a:t>persen</a:t>
            </a:r>
            <a:r>
              <a:rPr lang="en-US" dirty="0"/>
              <a:t> = ($</a:t>
            </a:r>
            <a:r>
              <a:rPr lang="en-US" dirty="0" err="1"/>
              <a:t>terkumpul</a:t>
            </a:r>
            <a:r>
              <a:rPr lang="en-US" dirty="0"/>
              <a:t>/$target)*100;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86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A0FA-AAD9-1702-5847-4BEF36D5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743" y="646970"/>
            <a:ext cx="8911687" cy="1280890"/>
          </a:xfrm>
        </p:spPr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Pengujian</a:t>
            </a:r>
            <a:r>
              <a:rPr lang="en-US" dirty="0"/>
              <a:t>, Kesimpulan dan Saran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482D9-33EB-2174-C7D2-1CE4BE16D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25" y="192786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Hasil </a:t>
            </a:r>
            <a:r>
              <a:rPr lang="en-US" b="1" dirty="0" err="1"/>
              <a:t>Pengujian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A87A13-0917-FB96-8551-FF434C499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482492"/>
              </p:ext>
            </p:extLst>
          </p:nvPr>
        </p:nvGraphicFramePr>
        <p:xfrm>
          <a:off x="2032000" y="2627739"/>
          <a:ext cx="8128000" cy="260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078010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9924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64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23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Tambah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Pemasukan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93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Tambah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Pengeluaran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90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Grafik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Keuangan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137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Target Tabungan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48638"/>
                  </a:ext>
                </a:extLst>
              </a:tr>
              <a:tr h="381424">
                <a:tc>
                  <a:txBody>
                    <a:bodyPr/>
                    <a:lstStyle/>
                    <a:p>
                      <a:r>
                        <a:rPr lang="en-US" dirty="0"/>
                        <a:t>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3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73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A0FA-AAD9-1702-5847-4BEF36D5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695" y="555530"/>
            <a:ext cx="8911687" cy="1280890"/>
          </a:xfrm>
        </p:spPr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Pengujian</a:t>
            </a:r>
            <a:r>
              <a:rPr lang="en-US" dirty="0"/>
              <a:t>, Kesimpulan dan Saran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482D9-33EB-2174-C7D2-1CE4BE16D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2" y="2019300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Kesimpulan</a:t>
            </a:r>
          </a:p>
          <a:p>
            <a:pPr marL="0" indent="0" algn="just">
              <a:buNone/>
            </a:pPr>
            <a:r>
              <a:rPr lang="en-US" i="1" dirty="0"/>
              <a:t>Smart Finance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 yang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, </a:t>
            </a:r>
            <a:r>
              <a:rPr lang="en-US" dirty="0" err="1"/>
              <a:t>memantau</a:t>
            </a:r>
            <a:r>
              <a:rPr lang="en-US" dirty="0"/>
              <a:t> </a:t>
            </a:r>
            <a:r>
              <a:rPr lang="en-US" dirty="0" err="1"/>
              <a:t>saldo</a:t>
            </a:r>
            <a:r>
              <a:rPr lang="en-US" dirty="0"/>
              <a:t>,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target </a:t>
            </a:r>
            <a:r>
              <a:rPr lang="en-US" dirty="0" err="1"/>
              <a:t>tabungan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Saran </a:t>
            </a:r>
            <a:r>
              <a:rPr lang="en-US" b="1" dirty="0" err="1"/>
              <a:t>Pengembangan</a:t>
            </a:r>
            <a:endParaRPr lang="en-US" b="1" dirty="0"/>
          </a:p>
          <a:p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ekspor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PDF.</a:t>
            </a:r>
          </a:p>
          <a:p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.</a:t>
            </a:r>
          </a:p>
          <a:p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notifikasi</a:t>
            </a:r>
            <a:r>
              <a:rPr lang="en-US" dirty="0"/>
              <a:t> target </a:t>
            </a:r>
            <a:r>
              <a:rPr lang="en-US" dirty="0" err="1"/>
              <a:t>tabungan</a:t>
            </a:r>
            <a:r>
              <a:rPr lang="en-US" dirty="0"/>
              <a:t>.</a:t>
            </a:r>
          </a:p>
          <a:p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mobile Android dan IOS.</a:t>
            </a:r>
          </a:p>
          <a:p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enkripsi</a:t>
            </a:r>
            <a:r>
              <a:rPr lang="en-US" dirty="0"/>
              <a:t> data dan OTP.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30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DF23-CB64-4259-C8FF-AF1AA0A9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11687" cy="1280890"/>
          </a:xfrm>
        </p:spPr>
        <p:txBody>
          <a:bodyPr/>
          <a:lstStyle/>
          <a:p>
            <a:pPr algn="ctr"/>
            <a:r>
              <a:rPr lang="en-US" i="1" dirty="0"/>
              <a:t>USER INTERFACE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E9BFC2-8CF3-1F30-66E6-254A1D0CE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6469" y="1414556"/>
            <a:ext cx="1682795" cy="3778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FB7367-0D3D-C560-4D0F-AF2968E48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933" y="988060"/>
            <a:ext cx="1682795" cy="3195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20873C-087A-931A-49D3-A8EA60BA1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673" y="988060"/>
            <a:ext cx="4070985" cy="2480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01B7A-3006-15C9-353F-33E6F07FE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673" y="3551014"/>
            <a:ext cx="1682795" cy="3283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FDDDD4-3B07-407B-C762-C225D4D07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9588" y="988060"/>
            <a:ext cx="1587183" cy="293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76131D-F7BC-462A-BF23-CB0F0EC156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6194" y="988060"/>
            <a:ext cx="2211340" cy="48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8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202D-D773-9E37-9EA7-7E8E6E3A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Link program </a:t>
            </a:r>
            <a:r>
              <a:rPr lang="en-US" dirty="0" err="1"/>
              <a:t>SmartFinance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Pribadi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8B84D-B558-AC9F-6B24-24880A697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https://drive.google.com/drive/folders/1R6AQqp4c1FBcQGWBFqTt7d2GXHhkEfAl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876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052A-8F32-1B1A-B9DD-B3BEE077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TERIMA KASIH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1F3E-FF10-A21E-7B65-E7BDBB309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035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{56FD3E38-A6A9-9D4A-BDBD-F5343FA6FDC5}tf10001069</Template>
  <TotalTime>126</TotalTime>
  <Words>687</Words>
  <Application>Microsoft Macintosh PowerPoint</Application>
  <PresentationFormat>Widescreen</PresentationFormat>
  <Paragraphs>159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Wisp</vt:lpstr>
      <vt:lpstr>APLIKASI MANAJEMEN  KEUANGAN PRIBADI  (SMART FINANCE)</vt:lpstr>
      <vt:lpstr>Latar Belakang dan Permasalahan</vt:lpstr>
      <vt:lpstr>Tujuan dan Manfaat Proyek</vt:lpstr>
      <vt:lpstr>Fitur Utama Smart Finance</vt:lpstr>
      <vt:lpstr> Fitur Utama Smart Finance</vt:lpstr>
      <vt:lpstr>Analisis dan Perancangan Sistem</vt:lpstr>
      <vt:lpstr>Database dan Implementasi</vt:lpstr>
      <vt:lpstr>Database dan Implementasi</vt:lpstr>
      <vt:lpstr>Database dan Implementasi</vt:lpstr>
      <vt:lpstr>Hasil Pengujian, Kesimpulan dan Saran</vt:lpstr>
      <vt:lpstr>Hasil Pengujian, Kesimpulan dan Saran</vt:lpstr>
      <vt:lpstr>USER INTERFACE</vt:lpstr>
      <vt:lpstr>Link program SmartFinance Aplikasi Manajemen Keuangan Pribadi</vt:lpstr>
      <vt:lpstr>     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MANAJEMEN  KEUANGAN PRIBADI  (SMART FINANCE)</dc:title>
  <dc:creator>Microsoft Office User</dc:creator>
  <cp:lastModifiedBy>Microsoft Office User</cp:lastModifiedBy>
  <cp:revision>9</cp:revision>
  <dcterms:created xsi:type="dcterms:W3CDTF">2026-06-10T14:14:14Z</dcterms:created>
  <dcterms:modified xsi:type="dcterms:W3CDTF">2026-06-10T16:20:39Z</dcterms:modified>
</cp:coreProperties>
</file>